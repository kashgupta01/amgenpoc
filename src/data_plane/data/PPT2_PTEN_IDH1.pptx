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083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7B2FBE">
              <a:alpha val="25000"/>
            </a:srgbClr>
          </a:solidFill>
          <a:ln w="12700">
            <a:solidFill>
              <a:srgbClr val="7B2FB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0" y="1828800"/>
            <a:ext cx="3657600" cy="3657600"/>
          </a:xfrm>
          <a:prstGeom prst="ellipse">
            <a:avLst/>
          </a:prstGeom>
          <a:solidFill>
            <a:srgbClr val="2DC653">
              <a:alpha val="18000"/>
            </a:srgbClr>
          </a:solidFill>
          <a:ln w="12700">
            <a:solidFill>
              <a:srgbClr val="2DC653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PTEN &amp; IDH1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Suppression &amp; Metabolic Reprogramming in Cancer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E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Oncology Team Update  |  June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PTEN — Phosphatase and Tensin Homolog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&amp; Loss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PTEN is a dual-specificity phosphatase that negatively regulates the PI3K/AKT/mTOR signalling axis — one of the most frequently activated pathways in human cancer. PTEN loss (deletion, mutation, or epigenetic silencing) leads to constitutive AKT activation, promoting cell survival, proliferation, and chemotherapy resistance.
</a:t>
            </a:r>
            <a:r>
              <a:rPr lang="en-US" sz="1300" i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PTEN is the second most commonly mutated tumour suppressor after TP53.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0" y="822960"/>
            <a:ext cx="32004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806440" y="85953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806440" y="1115568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of GBM, 20–40%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endometrial, 10–20% breast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0" y="1920240"/>
            <a:ext cx="32004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806440" y="195681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Target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06440" y="2212848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PI3K → AKT → mTOR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(inhibitors exist for all nodes)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3017520"/>
            <a:ext cx="32004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06440" y="305409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 Status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6440" y="3310128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companion Dx for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PI3K inhibitors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E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PTEN — PI3K/AKT/mTOR Inhibitor Landscape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3931920"/>
          </a:xfrm>
          <a:prstGeom prst="rect">
            <a:avLst/>
          </a:prstGeom>
          <a:solidFill>
            <a:srgbClr val="00B4D8">
              <a:alpha val="20000"/>
            </a:srgb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92024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Alpelisib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(Piqray)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019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 PI3Kα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128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9E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Approved: FDA 2019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5603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HR+/HER2- breast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 PIK3CA mutation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822960"/>
            <a:ext cx="1920240" cy="3931920"/>
          </a:xfrm>
          <a:prstGeom prst="rect">
            <a:avLst/>
          </a:prstGeom>
          <a:solidFill>
            <a:srgbClr val="0096C7">
              <a:alpha val="20000"/>
            </a:srgbClr>
          </a:solidFill>
          <a:ln w="1905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23160" y="822960"/>
            <a:ext cx="1920240" cy="3657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23160" y="822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14600" y="126187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Everolimus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(Afinitor)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14600" y="19019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 mTORC1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22128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9E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Approved: FDA 2012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14600" y="25603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HR+ breast, RCC,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822960"/>
            <a:ext cx="1920240" cy="3931920"/>
          </a:xfrm>
          <a:prstGeom prst="rect">
            <a:avLst/>
          </a:prstGeom>
          <a:solidFill>
            <a:srgbClr val="7B2FBE">
              <a:alpha val="20000"/>
            </a:srgbClr>
          </a:solidFill>
          <a:ln w="1905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822960"/>
            <a:ext cx="1920240" cy="3657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0" y="822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126187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Capivasertib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(Truqap)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19019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 AKT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22128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9E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Approved: FDA 2023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25603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HR+/HER2- breast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 PIK3CA/AKT/PTEN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20840" y="822960"/>
            <a:ext cx="1920240" cy="3931920"/>
          </a:xfrm>
          <a:prstGeom prst="rect">
            <a:avLst/>
          </a:prstGeom>
          <a:solidFill>
            <a:srgbClr val="2DC653">
              <a:alpha val="20000"/>
            </a:srgbClr>
          </a:solidFill>
          <a:ln w="1905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20840" y="822960"/>
            <a:ext cx="1920240" cy="36576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20840" y="822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12280" y="126187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Inavolisib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(Itovebi)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12280" y="19019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 PI3Kα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12280" y="22128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9E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Approved: FDA 2024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12280" y="25603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HR+ breast w/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PIK3CA mutation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PTEN loss predicts resistance to PI3K inhibitors in ~40% of cases — combination strategies under investigation.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E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IDH1 — Isocitrate Dehydrogenase 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Oncometabolite Story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Wild-type IDH1 converts isocitrate to α-ketoglutarate (α-KG) in the TCA cycle. Mutant IDH1 (most commonly R132H) gains a neomorphic function — producing 2-hydroxyglutarate (2-HG), an oncometabolite that: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Inhibits TET2 (DNA demethylase) → hypermethylation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Inhibits histone demethylases → epigenetic rewiring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haematopoietic differentiation → AML
</a:t>
            </a: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epigenetic reprogramming is now directly targetable.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0" y="822960"/>
            <a:ext cx="32004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806440" y="85953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Cancers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806440" y="1115568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(~20%), Glioma grades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(60–80%), cholangiocarcinoma (~20%)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0" y="1920240"/>
            <a:ext cx="32004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806440" y="195681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06440" y="2212848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R132H most common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(~90% of IDH1 mutations)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3017520"/>
            <a:ext cx="32004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06440" y="305409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Marker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6440" y="3310128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IHC R132H antibody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routinely used in neuro-oncology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E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IDH1 — Approved Inhibitors &amp; Clinical Data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60520" cy="4069080"/>
          </a:xfrm>
          <a:prstGeom prst="rect">
            <a:avLst/>
          </a:prstGeom>
          <a:solidFill>
            <a:srgbClr val="2DC653">
              <a:alpha val="15000"/>
            </a:srgbClr>
          </a:solidFill>
          <a:ln w="254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60520" cy="53035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82296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Ivosidenib (Tibsovo)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" y="14081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Approved: FDA 2018 (AML) · 2021 (CCA)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IDH1 inhibitor approved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2257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AML: CR rate ~22% as monotherapy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88950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Cholangiocarcinoma: ClarIDHy trial — improved PFS vs placebo (2.7 vs 1.4 mo)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5643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studied in IDH1-mutant glioma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023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Well-tolerated: main AE is IDH differentiation syndrome (10–19%)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822960"/>
            <a:ext cx="4160520" cy="4069080"/>
          </a:xfrm>
          <a:prstGeom prst="rect">
            <a:avLst/>
          </a:prstGeom>
          <a:solidFill>
            <a:srgbClr val="0096C7">
              <a:alpha val="15000"/>
            </a:srgbClr>
          </a:solidFill>
          <a:ln w="254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822960"/>
            <a:ext cx="4160520" cy="53035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64608" y="82296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Olutasidenib (Rezlidhia)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64608" y="14081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Approved: FDA 2022 (AML)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17556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IDH1-specific inhibitor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32257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+ CRh rate: 35% in rel/ref AML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88950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of response: ~25 months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45643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 with azacitidine in Phase II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4023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syndrome management critical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E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1F2E"/>
          </a:solidFill>
          <a:ln w="12700">
            <a:solidFill>
              <a:srgbClr val="1B1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PTEN &amp; IDH1 — Patient Status Summary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8412480" cy="38404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Cancer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 Enrolled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 on Therapy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HR+ Breast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— Phase III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Endometrial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— Phase 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 — 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IDH1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therapy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IDH1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Cholangiocarcinoma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therapy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IDH1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Glioma (Grade 2–3)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— Phase III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E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2D4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 &amp; Recommended Next Steps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60520" cy="4069080"/>
          </a:xfrm>
          <a:prstGeom prst="rect">
            <a:avLst/>
          </a:prstGeom>
          <a:solidFill>
            <a:srgbClr val="7B2FBE">
              <a:alpha val="12000"/>
            </a:srgbClr>
          </a:solidFill>
          <a:ln w="1905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402336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335024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biomarker validation study (Q3 2025)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39696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capivasertib + CDK4/6 inhibitor combo arm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944368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41 pts with inconclusive PTEN IHC — retest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7490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gap: no Phase III data in GBM yet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804672"/>
            <a:ext cx="4160520" cy="4069080"/>
          </a:xfrm>
          <a:prstGeom prst="rect">
            <a:avLst/>
          </a:prstGeom>
          <a:solidFill>
            <a:srgbClr val="2DC653">
              <a:alpha val="12000"/>
            </a:srgbClr>
          </a:solidFill>
          <a:ln w="1905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804672"/>
            <a:ext cx="4160520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804672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IDH1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1335024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44 additional glioma pts to meet Phase III target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139696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CRF to capture 2-HG levels at baseline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944368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syndrome SOP needs revision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7490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IDH1/2 co-mutation handling protocol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E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640</Words>
  <Application>Microsoft Office PowerPoint</Application>
  <PresentationFormat>On-screen Show (16:9)</PresentationFormat>
  <Paragraphs>142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PTEN &amp; IDH1 Treatment Status</dc:title>
  <dc:subject>PptxGenJS Presentation</dc:subject>
  <dc:creator>PptxGenJS</dc:creator>
  <cp:lastModifiedBy>Gupta, Kashish</cp:lastModifiedBy>
  <cp:revision>1</cp:revision>
  <dcterms:created xsi:type="dcterms:W3CDTF">2026-06-03T23:27:12Z</dcterms:created>
  <dcterms:modified xsi:type="dcterms:W3CDTF">2026-06-04T20:19:18Z</dcterms:modified>
</cp:coreProperties>
</file>