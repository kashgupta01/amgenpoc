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015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00CFE8">
              <a:alpha val="12000"/>
            </a:srgbClr>
          </a:solidFill>
          <a:ln w="12700">
            <a:solidFill>
              <a:srgbClr val="00CFE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371600"/>
            <a:ext cx="5486400" cy="5486400"/>
          </a:xfrm>
          <a:prstGeom prst="ellipse">
            <a:avLst/>
          </a:prstGeom>
          <a:solidFill>
            <a:srgbClr val="0096AB">
              <a:alpha val="18000"/>
            </a:srgbClr>
          </a:solidFill>
          <a:ln w="12700">
            <a:solidFill>
              <a:srgbClr val="0096A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VHL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Hippel-Lindau Tumor Suppressor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Hypoxia Signalling, Angiogenesis &amp; Targeted Therapy Update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Intelligence Team  |  June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— Biology &amp; Mechanism of Pathogenesis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encodes the substrate recognition component of an E3 ubiquitin ligase complex. Under normal oxygen conditions, VHL targets hypoxia-inducible factor (HIF-1α and HIF-2α) for proteasomal degradation.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VHL function leads to constitutive HIF accumulation even in normoxia — activating transcription of VEGF, PDGF, EPO, and GLUT1, driving angiogenesis and metabolic reprogramming characteristic of clear-cell renal cell carcinoma (ccRCC).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041648"/>
            <a:ext cx="1188720" cy="457200"/>
          </a:xfrm>
          <a:prstGeom prst="rect">
            <a:avLst/>
          </a:prstGeom>
          <a:solidFill>
            <a:srgbClr val="0096AB"/>
          </a:solidFill>
          <a:ln w="12700">
            <a:solidFill>
              <a:srgbClr val="009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041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lost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4270248"/>
            <a:ext cx="4572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4041648"/>
            <a:ext cx="10058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40416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HIF↑↑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4270248"/>
            <a:ext cx="4572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4041648"/>
            <a:ext cx="118872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4041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VEGF/tumor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Targeted Therapies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170432"/>
            <a:ext cx="4023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170432"/>
            <a:ext cx="164592" cy="1097280"/>
          </a:xfrm>
          <a:prstGeom prst="rect">
            <a:avLst/>
          </a:prstGeom>
          <a:solidFill>
            <a:srgbClr val="00CFE8"/>
          </a:solidFill>
          <a:ln w="1270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2352" y="1216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Belzutifan (Welireg)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4996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HIF-2α inhibitor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02352" y="170078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2021 — VHL disease (hemangioblastoma, ccRCC, pNET); direct HIF-2α targeting; first-in-class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404872"/>
            <a:ext cx="4023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404872"/>
            <a:ext cx="164592" cy="1097280"/>
          </a:xfrm>
          <a:prstGeom prst="rect">
            <a:avLst/>
          </a:prstGeom>
          <a:solidFill>
            <a:srgbClr val="0096AB"/>
          </a:solidFill>
          <a:ln w="12700">
            <a:solidFill>
              <a:srgbClr val="009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02352" y="2450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Sunitinib / Pazopanib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2352" y="27340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VEGFR TKIs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2352" y="29352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of care ccRCC for years; indirect VHL pathway blockade via anti-VEGF signalling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39312"/>
            <a:ext cx="4023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639312"/>
            <a:ext cx="164592" cy="1097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3685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+ Cabozantinib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 + TKI combo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41696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CheckMate-9ER: superior PFS/OS vs sunitinib in intermediate/poor risk ccRCC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6AB"/>
          </a:solidFill>
          <a:ln w="12700">
            <a:solidFill>
              <a:srgbClr val="009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— Patient Status &amp; Open Items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pts enrolled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(ccRCC program)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therapy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92024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(belzutifan)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777240"/>
            <a:ext cx="192024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VHL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confirmation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0848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patients require germline VHL sequencing confirmation — schedule by 30 June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belzutifan + everolimus combination cohort: 8 slots remaining to fill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HIF-2α resistance mechanism under investigation — no consensus protocol yet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33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Hemangioblastoma subgroup: insufficient evidence base, flag as evidence gap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84832"/>
            <a:ext cx="4206240" cy="27889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176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5968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834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belzutifan as preferred 1st-line for VHL disease-associated ccRCC per updated NCCN guideline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3284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Discontinued pazopanib monotherapy arm — inferior PFS vs combo in interim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599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297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compassionate use of belzutifan for 3 VHL syndrome patients with hemangioblastoma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On-screen Show (16:9)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VHL Gene Treatment Status</dc:title>
  <dc:subject>PptxGenJS Presentation</dc:subject>
  <dc:creator>PptxGenJS</dc:creator>
  <cp:lastModifiedBy>Gupta, Kashish</cp:lastModifiedBy>
  <cp:revision>1</cp:revision>
  <dcterms:created xsi:type="dcterms:W3CDTF">2026-06-03T23:27:13Z</dcterms:created>
  <dcterms:modified xsi:type="dcterms:W3CDTF">2026-06-04T20:17:04Z</dcterms:modified>
</cp:coreProperties>
</file>