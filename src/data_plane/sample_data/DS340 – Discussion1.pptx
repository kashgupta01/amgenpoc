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10"/>
  </p:notesMasterIdLst>
  <p:sldIdLst>
    <p:sldId id="256" r:id="rId2"/>
    <p:sldId id="257" r:id="rId3"/>
    <p:sldId id="258" r:id="rId4"/>
    <p:sldId id="259" r:id="rId5"/>
    <p:sldId id="260" r:id="rId6"/>
    <p:sldId id="262" r:id="rId7"/>
    <p:sldId id="261"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3083" autoAdjust="0"/>
  </p:normalViewPr>
  <p:slideViewPr>
    <p:cSldViewPr snapToGrid="0">
      <p:cViewPr varScale="1">
        <p:scale>
          <a:sx n="83" d="100"/>
          <a:sy n="83" d="100"/>
        </p:scale>
        <p:origin x="686"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165CE1-EA44-439F-998C-9A2DDF1DCB7D}" type="datetimeFigureOut">
              <a:rPr lang="en-US" smtClean="0"/>
              <a:t>6/3/2026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6382BC-ED89-4A17-A786-0D8C3C41AB06}" type="slidenum">
              <a:rPr lang="en-US" smtClean="0"/>
              <a:t>‹#›</a:t>
            </a:fld>
            <a:endParaRPr lang="en-US"/>
          </a:p>
        </p:txBody>
      </p:sp>
    </p:spTree>
    <p:extLst>
      <p:ext uri="{BB962C8B-B14F-4D97-AF65-F5344CB8AC3E}">
        <p14:creationId xmlns:p14="http://schemas.microsoft.com/office/powerpoint/2010/main" val="1204234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6382BC-ED89-4A17-A786-0D8C3C41AB06}" type="slidenum">
              <a:rPr lang="en-US" smtClean="0"/>
              <a:t>3</a:t>
            </a:fld>
            <a:endParaRPr lang="en-US"/>
          </a:p>
        </p:txBody>
      </p:sp>
    </p:spTree>
    <p:extLst>
      <p:ext uri="{BB962C8B-B14F-4D97-AF65-F5344CB8AC3E}">
        <p14:creationId xmlns:p14="http://schemas.microsoft.com/office/powerpoint/2010/main" val="755626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 in the groups and then share out loud, freeform </a:t>
            </a:r>
          </a:p>
        </p:txBody>
      </p:sp>
      <p:sp>
        <p:nvSpPr>
          <p:cNvPr id="4" name="Slide Number Placeholder 3"/>
          <p:cNvSpPr>
            <a:spLocks noGrp="1"/>
          </p:cNvSpPr>
          <p:nvPr>
            <p:ph type="sldNum" sz="quarter" idx="5"/>
          </p:nvPr>
        </p:nvSpPr>
        <p:spPr/>
        <p:txBody>
          <a:bodyPr/>
          <a:lstStyle/>
          <a:p>
            <a:fld id="{A86382BC-ED89-4A17-A786-0D8C3C41AB06}" type="slidenum">
              <a:rPr lang="en-US" smtClean="0"/>
              <a:t>4</a:t>
            </a:fld>
            <a:endParaRPr lang="en-US"/>
          </a:p>
        </p:txBody>
      </p:sp>
    </p:spTree>
    <p:extLst>
      <p:ext uri="{BB962C8B-B14F-4D97-AF65-F5344CB8AC3E}">
        <p14:creationId xmlns:p14="http://schemas.microsoft.com/office/powerpoint/2010/main" val="6179475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F9ED579-A299-42AC-B0BE-368A59C4DBCB}" type="datetimeFigureOut">
              <a:rPr lang="en-US" smtClean="0"/>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57A54A-0658-4F74-A5E3-A872D4A87407}" type="slidenum">
              <a:rPr lang="en-US" smtClean="0"/>
              <a:t>‹#›</a:t>
            </a:fld>
            <a:endParaRPr lang="en-US"/>
          </a:p>
        </p:txBody>
      </p:sp>
    </p:spTree>
    <p:extLst>
      <p:ext uri="{BB962C8B-B14F-4D97-AF65-F5344CB8AC3E}">
        <p14:creationId xmlns:p14="http://schemas.microsoft.com/office/powerpoint/2010/main" val="1732886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F9ED579-A299-42AC-B0BE-368A59C4DBCB}" type="datetimeFigureOut">
              <a:rPr lang="en-US" smtClean="0"/>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57A54A-0658-4F74-A5E3-A872D4A87407}" type="slidenum">
              <a:rPr lang="en-US" smtClean="0"/>
              <a:t>‹#›</a:t>
            </a:fld>
            <a:endParaRPr lang="en-US"/>
          </a:p>
        </p:txBody>
      </p:sp>
    </p:spTree>
    <p:extLst>
      <p:ext uri="{BB962C8B-B14F-4D97-AF65-F5344CB8AC3E}">
        <p14:creationId xmlns:p14="http://schemas.microsoft.com/office/powerpoint/2010/main" val="19866712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F9ED579-A299-42AC-B0BE-368A59C4DBCB}" type="datetimeFigureOut">
              <a:rPr lang="en-US" smtClean="0"/>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57A54A-0658-4F74-A5E3-A872D4A87407}" type="slidenum">
              <a:rPr lang="en-US" smtClean="0"/>
              <a:t>‹#›</a:t>
            </a:fld>
            <a:endParaRPr lang="en-US"/>
          </a:p>
        </p:txBody>
      </p:sp>
    </p:spTree>
    <p:extLst>
      <p:ext uri="{BB962C8B-B14F-4D97-AF65-F5344CB8AC3E}">
        <p14:creationId xmlns:p14="http://schemas.microsoft.com/office/powerpoint/2010/main" val="37567165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F9ED579-A299-42AC-B0BE-368A59C4DBCB}" type="datetimeFigureOut">
              <a:rPr lang="en-US" smtClean="0"/>
              <a:t>6/3/2026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57A54A-0658-4F74-A5E3-A872D4A87407}" type="slidenum">
              <a:rPr lang="en-US" smtClean="0"/>
              <a:t>‹#›</a:t>
            </a:fld>
            <a:endParaRPr lang="en-US"/>
          </a:p>
        </p:txBody>
      </p:sp>
    </p:spTree>
    <p:extLst>
      <p:ext uri="{BB962C8B-B14F-4D97-AF65-F5344CB8AC3E}">
        <p14:creationId xmlns:p14="http://schemas.microsoft.com/office/powerpoint/2010/main" val="22439724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F9ED579-A299-42AC-B0BE-368A59C4DBCB}" type="datetimeFigureOut">
              <a:rPr lang="en-US" smtClean="0"/>
              <a:t>6/3/2026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957A54A-0658-4F74-A5E3-A872D4A87407}" type="slidenum">
              <a:rPr lang="en-US" smtClean="0"/>
              <a:t>‹#›</a:t>
            </a:fld>
            <a:endParaRPr lang="en-US"/>
          </a:p>
        </p:txBody>
      </p:sp>
    </p:spTree>
    <p:extLst>
      <p:ext uri="{BB962C8B-B14F-4D97-AF65-F5344CB8AC3E}">
        <p14:creationId xmlns:p14="http://schemas.microsoft.com/office/powerpoint/2010/main" val="6211692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F9ED579-A299-42AC-B0BE-368A59C4DBCB}" type="datetimeFigureOut">
              <a:rPr lang="en-US" smtClean="0"/>
              <a:t>6/3/2026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957A54A-0658-4F74-A5E3-A872D4A87407}" type="slidenum">
              <a:rPr lang="en-US" smtClean="0"/>
              <a:t>‹#›</a:t>
            </a:fld>
            <a:endParaRPr lang="en-US"/>
          </a:p>
        </p:txBody>
      </p:sp>
    </p:spTree>
    <p:extLst>
      <p:ext uri="{BB962C8B-B14F-4D97-AF65-F5344CB8AC3E}">
        <p14:creationId xmlns:p14="http://schemas.microsoft.com/office/powerpoint/2010/main" val="25365686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F9ED579-A299-42AC-B0BE-368A59C4DBCB}" type="datetimeFigureOut">
              <a:rPr lang="en-US" smtClean="0"/>
              <a:t>6/3/2026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957A54A-0658-4F74-A5E3-A872D4A87407}" type="slidenum">
              <a:rPr lang="en-US" smtClean="0"/>
              <a:t>‹#›</a:t>
            </a:fld>
            <a:endParaRPr lang="en-US"/>
          </a:p>
        </p:txBody>
      </p:sp>
    </p:spTree>
    <p:extLst>
      <p:ext uri="{BB962C8B-B14F-4D97-AF65-F5344CB8AC3E}">
        <p14:creationId xmlns:p14="http://schemas.microsoft.com/office/powerpoint/2010/main" val="14807190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F9ED579-A299-42AC-B0BE-368A59C4DBCB}" type="datetimeFigureOut">
              <a:rPr lang="en-US" smtClean="0"/>
              <a:t>6/3/2026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57A54A-0658-4F74-A5E3-A872D4A87407}" type="slidenum">
              <a:rPr lang="en-US" smtClean="0"/>
              <a:t>‹#›</a:t>
            </a:fld>
            <a:endParaRPr lang="en-US"/>
          </a:p>
        </p:txBody>
      </p:sp>
    </p:spTree>
    <p:extLst>
      <p:ext uri="{BB962C8B-B14F-4D97-AF65-F5344CB8AC3E}">
        <p14:creationId xmlns:p14="http://schemas.microsoft.com/office/powerpoint/2010/main" val="7092291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F9ED579-A299-42AC-B0BE-368A59C4DBCB}" type="datetimeFigureOut">
              <a:rPr lang="en-US" smtClean="0"/>
              <a:t>6/3/2026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57A54A-0658-4F74-A5E3-A872D4A87407}" type="slidenum">
              <a:rPr lang="en-US" smtClean="0"/>
              <a:t>‹#›</a:t>
            </a:fld>
            <a:endParaRPr lang="en-US"/>
          </a:p>
        </p:txBody>
      </p:sp>
    </p:spTree>
    <p:extLst>
      <p:ext uri="{BB962C8B-B14F-4D97-AF65-F5344CB8AC3E}">
        <p14:creationId xmlns:p14="http://schemas.microsoft.com/office/powerpoint/2010/main" val="7406724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F9ED579-A299-42AC-B0BE-368A59C4DBCB}" type="datetimeFigureOut">
              <a:rPr lang="en-US" smtClean="0"/>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57A54A-0658-4F74-A5E3-A872D4A87407}" type="slidenum">
              <a:rPr lang="en-US" smtClean="0"/>
              <a:t>‹#›</a:t>
            </a:fld>
            <a:endParaRPr lang="en-US"/>
          </a:p>
        </p:txBody>
      </p:sp>
    </p:spTree>
    <p:extLst>
      <p:ext uri="{BB962C8B-B14F-4D97-AF65-F5344CB8AC3E}">
        <p14:creationId xmlns:p14="http://schemas.microsoft.com/office/powerpoint/2010/main" val="28337653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F9ED579-A299-42AC-B0BE-368A59C4DBCB}" type="datetimeFigureOut">
              <a:rPr lang="en-US" smtClean="0"/>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57A54A-0658-4F74-A5E3-A872D4A87407}"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2221118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F9ED579-A299-42AC-B0BE-368A59C4DBCB}" type="datetimeFigureOut">
              <a:rPr lang="en-US" smtClean="0"/>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57A54A-0658-4F74-A5E3-A872D4A87407}" type="slidenum">
              <a:rPr lang="en-US" smtClean="0"/>
              <a:t>‹#›</a:t>
            </a:fld>
            <a:endParaRPr lang="en-US"/>
          </a:p>
        </p:txBody>
      </p:sp>
    </p:spTree>
    <p:extLst>
      <p:ext uri="{BB962C8B-B14F-4D97-AF65-F5344CB8AC3E}">
        <p14:creationId xmlns:p14="http://schemas.microsoft.com/office/powerpoint/2010/main" val="13507752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F9ED579-A299-42AC-B0BE-368A59C4DBCB}" type="datetimeFigureOut">
              <a:rPr lang="en-US" smtClean="0"/>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57A54A-0658-4F74-A5E3-A872D4A87407}"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1510679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F9ED579-A299-42AC-B0BE-368A59C4DBCB}" type="datetimeFigureOut">
              <a:rPr lang="en-US" smtClean="0"/>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57A54A-0658-4F74-A5E3-A872D4A87407}" type="slidenum">
              <a:rPr lang="en-US" smtClean="0"/>
              <a:t>‹#›</a:t>
            </a:fld>
            <a:endParaRPr lang="en-US"/>
          </a:p>
        </p:txBody>
      </p:sp>
    </p:spTree>
    <p:extLst>
      <p:ext uri="{BB962C8B-B14F-4D97-AF65-F5344CB8AC3E}">
        <p14:creationId xmlns:p14="http://schemas.microsoft.com/office/powerpoint/2010/main" val="33714125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F9ED579-A299-42AC-B0BE-368A59C4DBCB}" type="datetimeFigureOut">
              <a:rPr lang="en-US" smtClean="0"/>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57A54A-0658-4F74-A5E3-A872D4A87407}" type="slidenum">
              <a:rPr lang="en-US" smtClean="0"/>
              <a:t>‹#›</a:t>
            </a:fld>
            <a:endParaRPr lang="en-US"/>
          </a:p>
        </p:txBody>
      </p:sp>
    </p:spTree>
    <p:extLst>
      <p:ext uri="{BB962C8B-B14F-4D97-AF65-F5344CB8AC3E}">
        <p14:creationId xmlns:p14="http://schemas.microsoft.com/office/powerpoint/2010/main" val="20201996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F9ED579-A299-42AC-B0BE-368A59C4DBCB}" type="datetimeFigureOut">
              <a:rPr lang="en-US" smtClean="0"/>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57A54A-0658-4F74-A5E3-A872D4A87407}" type="slidenum">
              <a:rPr lang="en-US" smtClean="0"/>
              <a:t>‹#›</a:t>
            </a:fld>
            <a:endParaRPr lang="en-US"/>
          </a:p>
        </p:txBody>
      </p:sp>
    </p:spTree>
    <p:extLst>
      <p:ext uri="{BB962C8B-B14F-4D97-AF65-F5344CB8AC3E}">
        <p14:creationId xmlns:p14="http://schemas.microsoft.com/office/powerpoint/2010/main" val="21510660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F9ED579-A299-42AC-B0BE-368A59C4DBCB}" type="datetimeFigureOut">
              <a:rPr lang="en-US" smtClean="0"/>
              <a:t>6/3/2026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5957A54A-0658-4F74-A5E3-A872D4A87407}" type="slidenum">
              <a:rPr lang="en-US" smtClean="0"/>
              <a:t>‹#›</a:t>
            </a:fld>
            <a:endParaRPr lang="en-US"/>
          </a:p>
        </p:txBody>
      </p:sp>
    </p:spTree>
    <p:extLst>
      <p:ext uri="{BB962C8B-B14F-4D97-AF65-F5344CB8AC3E}">
        <p14:creationId xmlns:p14="http://schemas.microsoft.com/office/powerpoint/2010/main" val="1184460831"/>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0BEDF-71E8-0227-A2E4-ADED68504D27}"/>
              </a:ext>
            </a:extLst>
          </p:cNvPr>
          <p:cNvSpPr>
            <a:spLocks noGrp="1"/>
          </p:cNvSpPr>
          <p:nvPr>
            <p:ph type="ctrTitle"/>
          </p:nvPr>
        </p:nvSpPr>
        <p:spPr/>
        <p:txBody>
          <a:bodyPr/>
          <a:lstStyle/>
          <a:p>
            <a:r>
              <a:rPr lang="en-US" dirty="0"/>
              <a:t>DS340 – Discussion Session </a:t>
            </a:r>
          </a:p>
        </p:txBody>
      </p:sp>
      <p:sp>
        <p:nvSpPr>
          <p:cNvPr id="3" name="Subtitle 2">
            <a:extLst>
              <a:ext uri="{FF2B5EF4-FFF2-40B4-BE49-F238E27FC236}">
                <a16:creationId xmlns:a16="http://schemas.microsoft.com/office/drawing/2014/main" id="{405A43DD-598B-3ED1-7C43-C0AA661E8255}"/>
              </a:ext>
            </a:extLst>
          </p:cNvPr>
          <p:cNvSpPr>
            <a:spLocks noGrp="1"/>
          </p:cNvSpPr>
          <p:nvPr>
            <p:ph type="subTitle" idx="1"/>
          </p:nvPr>
        </p:nvSpPr>
        <p:spPr>
          <a:xfrm>
            <a:off x="1507067" y="4050833"/>
            <a:ext cx="7766936" cy="2430354"/>
          </a:xfrm>
        </p:spPr>
        <p:txBody>
          <a:bodyPr>
            <a:normAutofit/>
          </a:bodyPr>
          <a:lstStyle/>
          <a:p>
            <a:r>
              <a:rPr lang="en-US" dirty="0"/>
              <a:t>Course Instructor: Kevin Gold</a:t>
            </a:r>
          </a:p>
        </p:txBody>
      </p:sp>
    </p:spTree>
    <p:extLst>
      <p:ext uri="{BB962C8B-B14F-4D97-AF65-F5344CB8AC3E}">
        <p14:creationId xmlns:p14="http://schemas.microsoft.com/office/powerpoint/2010/main" val="42847086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0FA27-D1D6-43A6-59FA-D57604ACF241}"/>
              </a:ext>
            </a:extLst>
          </p:cNvPr>
          <p:cNvSpPr>
            <a:spLocks noGrp="1"/>
          </p:cNvSpPr>
          <p:nvPr>
            <p:ph type="title"/>
          </p:nvPr>
        </p:nvSpPr>
        <p:spPr>
          <a:xfrm>
            <a:off x="1136397" y="502020"/>
            <a:ext cx="5323715" cy="1642970"/>
          </a:xfrm>
        </p:spPr>
        <p:txBody>
          <a:bodyPr anchor="b">
            <a:normAutofit/>
          </a:bodyPr>
          <a:lstStyle/>
          <a:p>
            <a:r>
              <a:rPr lang="en-US" sz="4000"/>
              <a:t>I’m Kashish! </a:t>
            </a:r>
          </a:p>
        </p:txBody>
      </p:sp>
      <p:sp>
        <p:nvSpPr>
          <p:cNvPr id="3" name="Content Placeholder 2">
            <a:extLst>
              <a:ext uri="{FF2B5EF4-FFF2-40B4-BE49-F238E27FC236}">
                <a16:creationId xmlns:a16="http://schemas.microsoft.com/office/drawing/2014/main" id="{8C85E4F9-2375-9FF0-A289-E934395374AF}"/>
              </a:ext>
            </a:extLst>
          </p:cNvPr>
          <p:cNvSpPr>
            <a:spLocks noGrp="1"/>
          </p:cNvSpPr>
          <p:nvPr>
            <p:ph idx="1"/>
          </p:nvPr>
        </p:nvSpPr>
        <p:spPr>
          <a:xfrm>
            <a:off x="1144923" y="2405894"/>
            <a:ext cx="5315189" cy="3535083"/>
          </a:xfrm>
        </p:spPr>
        <p:txBody>
          <a:bodyPr anchor="t">
            <a:normAutofit/>
          </a:bodyPr>
          <a:lstStyle/>
          <a:p>
            <a:r>
              <a:rPr lang="en-US" sz="2000" dirty="0"/>
              <a:t>Excited to be your TA! </a:t>
            </a:r>
          </a:p>
        </p:txBody>
      </p:sp>
      <p:pic>
        <p:nvPicPr>
          <p:cNvPr id="7" name="Picture 6" descr="A person taking a selfie&#10;&#10;AI-generated content may be incorrect.">
            <a:extLst>
              <a:ext uri="{FF2B5EF4-FFF2-40B4-BE49-F238E27FC236}">
                <a16:creationId xmlns:a16="http://schemas.microsoft.com/office/drawing/2014/main" id="{13FEE56A-FA19-FA25-D178-4CBC30AC00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9333" y="909081"/>
            <a:ext cx="3803798" cy="5071731"/>
          </a:xfrm>
          <a:prstGeom prst="rect">
            <a:avLst/>
          </a:prstGeom>
        </p:spPr>
      </p:pic>
      <p:pic>
        <p:nvPicPr>
          <p:cNvPr id="1026" name="Picture 2" descr="Washington State Logo Images – Browse 5,380 Stock Photos, Vectors, and  Video | Adobe Stock">
            <a:extLst>
              <a:ext uri="{FF2B5EF4-FFF2-40B4-BE49-F238E27FC236}">
                <a16:creationId xmlns:a16="http://schemas.microsoft.com/office/drawing/2014/main" id="{5A9841C2-2525-843C-B51E-F837117AD0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985" y="3200172"/>
            <a:ext cx="2404404" cy="172084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Marketing Communications Resources &amp; Tools | Worcester Polytechnic Institute">
            <a:extLst>
              <a:ext uri="{FF2B5EF4-FFF2-40B4-BE49-F238E27FC236}">
                <a16:creationId xmlns:a16="http://schemas.microsoft.com/office/drawing/2014/main" id="{653B6C80-49AC-00ED-1E1E-D5DD13A7970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28989" y="2647010"/>
            <a:ext cx="3398733" cy="26261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AI in Bioinformatics and Computational Biology">
            <a:extLst>
              <a:ext uri="{FF2B5EF4-FFF2-40B4-BE49-F238E27FC236}">
                <a16:creationId xmlns:a16="http://schemas.microsoft.com/office/drawing/2014/main" id="{4EE36C7E-E8B1-B5AF-B066-B5146A2A68C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62072" y="4853922"/>
            <a:ext cx="3110174" cy="17772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45822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2440A-ECD2-34A1-ACEC-1B7055E1072D}"/>
              </a:ext>
            </a:extLst>
          </p:cNvPr>
          <p:cNvSpPr>
            <a:spLocks noGrp="1"/>
          </p:cNvSpPr>
          <p:nvPr>
            <p:ph type="title"/>
          </p:nvPr>
        </p:nvSpPr>
        <p:spPr/>
        <p:txBody>
          <a:bodyPr/>
          <a:lstStyle/>
          <a:p>
            <a:r>
              <a:rPr lang="en-US" dirty="0"/>
              <a:t>Section Logistics </a:t>
            </a:r>
          </a:p>
        </p:txBody>
      </p:sp>
      <p:sp>
        <p:nvSpPr>
          <p:cNvPr id="3" name="Content Placeholder 2">
            <a:extLst>
              <a:ext uri="{FF2B5EF4-FFF2-40B4-BE49-F238E27FC236}">
                <a16:creationId xmlns:a16="http://schemas.microsoft.com/office/drawing/2014/main" id="{3141856B-733D-A3FD-E5CC-8A926C2EC62B}"/>
              </a:ext>
            </a:extLst>
          </p:cNvPr>
          <p:cNvSpPr>
            <a:spLocks noGrp="1"/>
          </p:cNvSpPr>
          <p:nvPr>
            <p:ph idx="1"/>
          </p:nvPr>
        </p:nvSpPr>
        <p:spPr/>
        <p:txBody>
          <a:bodyPr/>
          <a:lstStyle/>
          <a:p>
            <a:r>
              <a:rPr lang="en-US" dirty="0"/>
              <a:t>Discussion: every Thursday at 12:30-1:20PM </a:t>
            </a:r>
          </a:p>
          <a:p>
            <a:r>
              <a:rPr lang="en-US" dirty="0"/>
              <a:t>Start off with an overview of lecture or news concerning AI or lecture topics that week (which one?) </a:t>
            </a:r>
          </a:p>
          <a:p>
            <a:pPr lvl="1"/>
            <a:r>
              <a:rPr lang="en-US" dirty="0"/>
              <a:t>Transition into worksheets completed during discussion sessions</a:t>
            </a:r>
          </a:p>
          <a:p>
            <a:r>
              <a:rPr lang="en-US" dirty="0"/>
              <a:t>This section is required: while the worksheets are not graded, there is a participation grade. </a:t>
            </a:r>
          </a:p>
          <a:p>
            <a:pPr lvl="1"/>
            <a:r>
              <a:rPr lang="en-US" dirty="0"/>
              <a:t>However, if you can’t make it to the section, please email me and the professor ahead of time</a:t>
            </a:r>
          </a:p>
          <a:p>
            <a:r>
              <a:rPr lang="en-US" dirty="0"/>
              <a:t>My office hours will be posted by the end of this week on Piazza </a:t>
            </a:r>
          </a:p>
          <a:p>
            <a:r>
              <a:rPr lang="en-US" dirty="0"/>
              <a:t>Please come to me for help with anything: no judgement here! Everyone has different backgrounds and learning curves </a:t>
            </a:r>
          </a:p>
        </p:txBody>
      </p:sp>
    </p:spTree>
    <p:extLst>
      <p:ext uri="{BB962C8B-B14F-4D97-AF65-F5344CB8AC3E}">
        <p14:creationId xmlns:p14="http://schemas.microsoft.com/office/powerpoint/2010/main" val="28235182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55A27-522C-3434-25AC-E65CF905505F}"/>
              </a:ext>
            </a:extLst>
          </p:cNvPr>
          <p:cNvSpPr>
            <a:spLocks noGrp="1"/>
          </p:cNvSpPr>
          <p:nvPr>
            <p:ph type="title"/>
          </p:nvPr>
        </p:nvSpPr>
        <p:spPr/>
        <p:txBody>
          <a:bodyPr/>
          <a:lstStyle/>
          <a:p>
            <a:r>
              <a:rPr lang="en-US" dirty="0"/>
              <a:t>Strengths and Weaknesses of AI </a:t>
            </a:r>
          </a:p>
        </p:txBody>
      </p:sp>
      <p:sp>
        <p:nvSpPr>
          <p:cNvPr id="3" name="Content Placeholder 2">
            <a:extLst>
              <a:ext uri="{FF2B5EF4-FFF2-40B4-BE49-F238E27FC236}">
                <a16:creationId xmlns:a16="http://schemas.microsoft.com/office/drawing/2014/main" id="{EAC53E2C-0C5B-CEC8-1891-DC7F83B51710}"/>
              </a:ext>
            </a:extLst>
          </p:cNvPr>
          <p:cNvSpPr>
            <a:spLocks noGrp="1"/>
          </p:cNvSpPr>
          <p:nvPr>
            <p:ph idx="1"/>
          </p:nvPr>
        </p:nvSpPr>
        <p:spPr/>
        <p:txBody>
          <a:bodyPr/>
          <a:lstStyle/>
          <a:p>
            <a:pPr marL="0" indent="0">
              <a:buNone/>
            </a:pPr>
            <a:r>
              <a:rPr lang="en-US" dirty="0"/>
              <a:t>1. What do we know about the current state of AI and machine learning?  What major successes can you remember, from either news stories or the first lecture?</a:t>
            </a:r>
          </a:p>
          <a:p>
            <a:pPr marL="0" indent="0">
              <a:buNone/>
            </a:pPr>
            <a:r>
              <a:rPr lang="en-US" dirty="0"/>
              <a:t>2. Is there anything AI/ML seems to be bad at?</a:t>
            </a:r>
          </a:p>
          <a:p>
            <a:pPr marL="0" indent="0">
              <a:buNone/>
            </a:pPr>
            <a:r>
              <a:rPr lang="en-US" dirty="0"/>
              <a:t>3. Can we speculate as to why AI/ML tends to be good at some things, but not others?</a:t>
            </a:r>
          </a:p>
          <a:p>
            <a:pPr marL="0" indent="0">
              <a:buNone/>
            </a:pPr>
            <a:endParaRPr lang="en-US" dirty="0"/>
          </a:p>
        </p:txBody>
      </p:sp>
    </p:spTree>
    <p:extLst>
      <p:ext uri="{BB962C8B-B14F-4D97-AF65-F5344CB8AC3E}">
        <p14:creationId xmlns:p14="http://schemas.microsoft.com/office/powerpoint/2010/main" val="10003804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57C50-3020-25B5-4CBC-C484E1F55644}"/>
              </a:ext>
            </a:extLst>
          </p:cNvPr>
          <p:cNvSpPr>
            <a:spLocks noGrp="1"/>
          </p:cNvSpPr>
          <p:nvPr>
            <p:ph type="title"/>
          </p:nvPr>
        </p:nvSpPr>
        <p:spPr/>
        <p:txBody>
          <a:bodyPr>
            <a:normAutofit/>
          </a:bodyPr>
          <a:lstStyle/>
          <a:p>
            <a:r>
              <a:rPr lang="en-US" dirty="0"/>
              <a:t>The Elephant in the Room, ChatGPT (or similar)</a:t>
            </a:r>
          </a:p>
        </p:txBody>
      </p:sp>
      <p:sp>
        <p:nvSpPr>
          <p:cNvPr id="3" name="Content Placeholder 2">
            <a:extLst>
              <a:ext uri="{FF2B5EF4-FFF2-40B4-BE49-F238E27FC236}">
                <a16:creationId xmlns:a16="http://schemas.microsoft.com/office/drawing/2014/main" id="{70FA6D40-E374-50E4-8548-00F9676240D9}"/>
              </a:ext>
            </a:extLst>
          </p:cNvPr>
          <p:cNvSpPr>
            <a:spLocks noGrp="1"/>
          </p:cNvSpPr>
          <p:nvPr>
            <p:ph idx="1"/>
          </p:nvPr>
        </p:nvSpPr>
        <p:spPr/>
        <p:txBody>
          <a:bodyPr/>
          <a:lstStyle/>
          <a:p>
            <a:pPr marL="0" indent="0">
              <a:buNone/>
            </a:pPr>
            <a:r>
              <a:rPr lang="en-US" dirty="0"/>
              <a:t>1. What have you used ChatGPT, GPT-4, or another large language model for?</a:t>
            </a:r>
          </a:p>
          <a:p>
            <a:pPr marL="0" indent="0">
              <a:buNone/>
            </a:pPr>
            <a:r>
              <a:rPr lang="en-US" dirty="0"/>
              <a:t>2. What have you heard about how ChatGPT works?</a:t>
            </a:r>
          </a:p>
          <a:p>
            <a:pPr marL="0" indent="0">
              <a:buNone/>
            </a:pPr>
            <a:r>
              <a:rPr lang="en-US" dirty="0"/>
              <a:t>3. What are your opinions on how it ought to be used by students, versus misused?</a:t>
            </a:r>
          </a:p>
          <a:p>
            <a:pPr marL="0" indent="0">
              <a:buNone/>
            </a:pPr>
            <a:r>
              <a:rPr lang="en-US" dirty="0"/>
              <a:t>4. Is this a case of AI researchers unleashing a technology on the world without adequately thinking of the consequences, or does it appear to be a net good?</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17154871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12721F-7C86-7A47-A987-9217822F0ABB}"/>
              </a:ext>
            </a:extLst>
          </p:cNvPr>
          <p:cNvSpPr>
            <a:spLocks noGrp="1"/>
          </p:cNvSpPr>
          <p:nvPr>
            <p:ph type="title"/>
          </p:nvPr>
        </p:nvSpPr>
        <p:spPr/>
        <p:txBody>
          <a:bodyPr/>
          <a:lstStyle/>
          <a:p>
            <a:r>
              <a:rPr lang="en-US" dirty="0"/>
              <a:t>Fears and Ethics </a:t>
            </a:r>
          </a:p>
        </p:txBody>
      </p:sp>
      <p:sp>
        <p:nvSpPr>
          <p:cNvPr id="3" name="Content Placeholder 2">
            <a:extLst>
              <a:ext uri="{FF2B5EF4-FFF2-40B4-BE49-F238E27FC236}">
                <a16:creationId xmlns:a16="http://schemas.microsoft.com/office/drawing/2014/main" id="{7DA3CD01-A92E-04F4-105B-4599A8FC205A}"/>
              </a:ext>
            </a:extLst>
          </p:cNvPr>
          <p:cNvSpPr>
            <a:spLocks noGrp="1"/>
          </p:cNvSpPr>
          <p:nvPr>
            <p:ph idx="1"/>
          </p:nvPr>
        </p:nvSpPr>
        <p:spPr/>
        <p:txBody>
          <a:bodyPr/>
          <a:lstStyle/>
          <a:p>
            <a:pPr marL="0" indent="0">
              <a:buNone/>
            </a:pPr>
            <a:r>
              <a:rPr lang="en-US" dirty="0"/>
              <a:t>1. What do you worry </a:t>
            </a:r>
            <a:r>
              <a:rPr lang="en-US" i="1" dirty="0"/>
              <a:t>*might*</a:t>
            </a:r>
            <a:r>
              <a:rPr lang="en-US" dirty="0"/>
              <a:t> happen in AI and machine learning? </a:t>
            </a:r>
          </a:p>
          <a:p>
            <a:pPr marL="0" indent="0">
              <a:buNone/>
            </a:pPr>
            <a:r>
              <a:rPr lang="en-US" dirty="0"/>
              <a:t>2. What can AI/ML people do to help ensure that none of that comes about?</a:t>
            </a:r>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11214784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22B07-FDDC-8547-54F0-7E3F5F053729}"/>
              </a:ext>
            </a:extLst>
          </p:cNvPr>
          <p:cNvSpPr>
            <a:spLocks noGrp="1"/>
          </p:cNvSpPr>
          <p:nvPr>
            <p:ph type="title"/>
          </p:nvPr>
        </p:nvSpPr>
        <p:spPr/>
        <p:txBody>
          <a:bodyPr/>
          <a:lstStyle/>
          <a:p>
            <a:r>
              <a:rPr lang="en-US" dirty="0"/>
              <a:t>Making It Personal </a:t>
            </a:r>
          </a:p>
        </p:txBody>
      </p:sp>
      <p:sp>
        <p:nvSpPr>
          <p:cNvPr id="3" name="Content Placeholder 2">
            <a:extLst>
              <a:ext uri="{FF2B5EF4-FFF2-40B4-BE49-F238E27FC236}">
                <a16:creationId xmlns:a16="http://schemas.microsoft.com/office/drawing/2014/main" id="{0F1F05B1-CAB5-4903-BFA8-4786D078C273}"/>
              </a:ext>
            </a:extLst>
          </p:cNvPr>
          <p:cNvSpPr>
            <a:spLocks noGrp="1"/>
          </p:cNvSpPr>
          <p:nvPr>
            <p:ph idx="1"/>
          </p:nvPr>
        </p:nvSpPr>
        <p:spPr/>
        <p:txBody>
          <a:bodyPr/>
          <a:lstStyle/>
          <a:p>
            <a:pPr marL="514350" indent="-514350">
              <a:buAutoNum type="arabicPeriod"/>
            </a:pPr>
            <a:r>
              <a:rPr lang="en-US" dirty="0"/>
              <a:t>What field do you think of yourself as belonging to?  (programming, pre-med, math, ...)</a:t>
            </a:r>
          </a:p>
          <a:p>
            <a:pPr marL="514350" indent="-514350">
              <a:buFont typeface="Arial" panose="020B0604020202020204" pitchFamily="34" charset="0"/>
              <a:buAutoNum type="arabicPeriod"/>
            </a:pPr>
            <a:r>
              <a:rPr lang="en-US" dirty="0"/>
              <a:t>What do you, personally, hope to get out of this class?</a:t>
            </a:r>
          </a:p>
          <a:p>
            <a:pPr marL="514350" indent="-514350">
              <a:buFont typeface="Arial" panose="020B0604020202020204" pitchFamily="34" charset="0"/>
              <a:buAutoNum type="arabicPeriod"/>
            </a:pPr>
            <a:r>
              <a:rPr lang="en-US" dirty="0"/>
              <a:t>If you got </a:t>
            </a:r>
            <a:r>
              <a:rPr lang="en-US" i="1" dirty="0"/>
              <a:t>*really*</a:t>
            </a:r>
            <a:r>
              <a:rPr lang="en-US" dirty="0"/>
              <a:t> good at AI/ML eventually, what would you do then?</a:t>
            </a:r>
          </a:p>
          <a:p>
            <a:pPr marL="514350" indent="-514350">
              <a:buFont typeface="Arial" panose="020B0604020202020204" pitchFamily="34" charset="0"/>
              <a:buAutoNum type="arabicPeriod"/>
            </a:pPr>
            <a:endParaRPr lang="en-US" dirty="0"/>
          </a:p>
          <a:p>
            <a:pPr marL="514350" indent="-514350">
              <a:buFont typeface="Arial" panose="020B0604020202020204" pitchFamily="34" charset="0"/>
              <a:buAutoNum type="arabicPeriod"/>
            </a:pPr>
            <a:endParaRPr lang="en-US" dirty="0"/>
          </a:p>
          <a:p>
            <a:pPr marL="0" indent="0">
              <a:buNone/>
            </a:pPr>
            <a:endParaRPr lang="en-US" dirty="0"/>
          </a:p>
        </p:txBody>
      </p:sp>
    </p:spTree>
    <p:extLst>
      <p:ext uri="{BB962C8B-B14F-4D97-AF65-F5344CB8AC3E}">
        <p14:creationId xmlns:p14="http://schemas.microsoft.com/office/powerpoint/2010/main" val="33088428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43B9E-AEFC-F744-8DB8-F00432EA3656}"/>
              </a:ext>
            </a:extLst>
          </p:cNvPr>
          <p:cNvSpPr>
            <a:spLocks noGrp="1"/>
          </p:cNvSpPr>
          <p:nvPr>
            <p:ph type="title"/>
          </p:nvPr>
        </p:nvSpPr>
        <p:spPr/>
        <p:txBody>
          <a:bodyPr/>
          <a:lstStyle/>
          <a:p>
            <a:r>
              <a:rPr lang="en-US" dirty="0"/>
              <a:t>Project Brainstorming </a:t>
            </a:r>
          </a:p>
        </p:txBody>
      </p:sp>
      <p:sp>
        <p:nvSpPr>
          <p:cNvPr id="3" name="Content Placeholder 2">
            <a:extLst>
              <a:ext uri="{FF2B5EF4-FFF2-40B4-BE49-F238E27FC236}">
                <a16:creationId xmlns:a16="http://schemas.microsoft.com/office/drawing/2014/main" id="{76D8F606-9C7C-0666-222A-E92F4C1C7030}"/>
              </a:ext>
            </a:extLst>
          </p:cNvPr>
          <p:cNvSpPr>
            <a:spLocks noGrp="1"/>
          </p:cNvSpPr>
          <p:nvPr>
            <p:ph idx="1"/>
          </p:nvPr>
        </p:nvSpPr>
        <p:spPr/>
        <p:txBody>
          <a:bodyPr>
            <a:normAutofit lnSpcReduction="10000"/>
          </a:bodyPr>
          <a:lstStyle/>
          <a:p>
            <a:pPr marL="0" indent="0">
              <a:buNone/>
            </a:pPr>
            <a:r>
              <a:rPr lang="en-US" dirty="0"/>
              <a:t>Once discussion of the above topics is complete, spend some time brainstorming possible projects in an AI/ML course with a person near you.  Even if you're feeling stuck, try to be kind and help the other person generate ideas. If you get along well and think you could be project partners, exchange contact information.</a:t>
            </a:r>
          </a:p>
          <a:p>
            <a:pPr marL="0" indent="0">
              <a:buNone/>
            </a:pPr>
            <a:r>
              <a:rPr lang="en-US" dirty="0"/>
              <a:t>Some things to think about as you brainstorm are:</a:t>
            </a:r>
          </a:p>
          <a:p>
            <a:r>
              <a:rPr lang="en-US" dirty="0"/>
              <a:t>Can you think of an interesting dataset that you know exists or ought to exist on the Internet?</a:t>
            </a:r>
          </a:p>
          <a:p>
            <a:r>
              <a:rPr lang="en-US" dirty="0"/>
              <a:t>Do you want to classify something, predict a value, or generate a new example?  (The last one is harder than the others.)</a:t>
            </a:r>
          </a:p>
          <a:p>
            <a:r>
              <a:rPr lang="en-US" dirty="0"/>
              <a:t>How well do you expect humans would do this task?  (If not well, the ML may not perform well, either.)</a:t>
            </a:r>
          </a:p>
          <a:p>
            <a:pPr marL="0" indent="0">
              <a:buNone/>
            </a:pPr>
            <a:endParaRPr lang="en-US" dirty="0"/>
          </a:p>
        </p:txBody>
      </p:sp>
    </p:spTree>
    <p:extLst>
      <p:ext uri="{BB962C8B-B14F-4D97-AF65-F5344CB8AC3E}">
        <p14:creationId xmlns:p14="http://schemas.microsoft.com/office/powerpoint/2010/main" val="579742350"/>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1038</TotalTime>
  <Words>541</Words>
  <Application>Microsoft Office PowerPoint</Application>
  <PresentationFormat>Widescreen</PresentationFormat>
  <Paragraphs>39</Paragraphs>
  <Slides>8</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Arial</vt:lpstr>
      <vt:lpstr>Trebuchet MS</vt:lpstr>
      <vt:lpstr>Wingdings 3</vt:lpstr>
      <vt:lpstr>Facet</vt:lpstr>
      <vt:lpstr>DS340 – Discussion Session </vt:lpstr>
      <vt:lpstr>I’m Kashish! </vt:lpstr>
      <vt:lpstr>Section Logistics </vt:lpstr>
      <vt:lpstr>Strengths and Weaknesses of AI </vt:lpstr>
      <vt:lpstr>The Elephant in the Room, ChatGPT (or similar)</vt:lpstr>
      <vt:lpstr>Fears and Ethics </vt:lpstr>
      <vt:lpstr>Making It Personal </vt:lpstr>
      <vt:lpstr>Project Brainstorming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Gupta, Kashish</dc:creator>
  <cp:lastModifiedBy>Gupta, Kashish</cp:lastModifiedBy>
  <cp:revision>3</cp:revision>
  <dcterms:created xsi:type="dcterms:W3CDTF">2025-09-04T01:40:07Z</dcterms:created>
  <dcterms:modified xsi:type="dcterms:W3CDTF">2026-06-03T21:59:23Z</dcterms:modified>
</cp:coreProperties>
</file>